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sldIdLst>
    <p:sldId id="256" r:id="rId2"/>
    <p:sldId id="264" r:id="rId3"/>
    <p:sldId id="263" r:id="rId4"/>
    <p:sldId id="257" r:id="rId5"/>
    <p:sldId id="258" r:id="rId6"/>
    <p:sldId id="265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E66628-DD2D-4767-A327-2ED2F4F3053E}" v="46" dt="2026-10-15T17:18:12.8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99" d="100"/>
          <a:sy n="99" d="100"/>
        </p:scale>
        <p:origin x="8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au Rolland" userId="f52fc5bcd6e30c53" providerId="LiveId" clId="{8CD072EA-41EB-45D5-97A8-669721F02812}"/>
    <pc:docChg chg="undo custSel addSld modSld">
      <pc:chgData name="Beau Rolland" userId="f52fc5bcd6e30c53" providerId="LiveId" clId="{8CD072EA-41EB-45D5-97A8-669721F02812}" dt="2026-10-18T14:41:40.779" v="374" actId="20577"/>
      <pc:docMkLst>
        <pc:docMk/>
      </pc:docMkLst>
      <pc:sldChg chg="modSp">
        <pc:chgData name="Beau Rolland" userId="f52fc5bcd6e30c53" providerId="LiveId" clId="{8CD072EA-41EB-45D5-97A8-669721F02812}" dt="2026-10-15T17:07:28.566" v="334"/>
        <pc:sldMkLst>
          <pc:docMk/>
          <pc:sldMk cId="2126655742" sldId="256"/>
        </pc:sldMkLst>
        <pc:spChg chg="mod">
          <ac:chgData name="Beau Rolland" userId="f52fc5bcd6e30c53" providerId="LiveId" clId="{8CD072EA-41EB-45D5-97A8-669721F02812}" dt="2026-10-15T17:07:28.566" v="334"/>
          <ac:spMkLst>
            <pc:docMk/>
            <pc:sldMk cId="2126655742" sldId="256"/>
            <ac:spMk id="2" creationId="{BCC8452D-8C01-BFA3-3552-955FBE2AB907}"/>
          </ac:spMkLst>
        </pc:spChg>
        <pc:spChg chg="mod">
          <ac:chgData name="Beau Rolland" userId="f52fc5bcd6e30c53" providerId="LiveId" clId="{8CD072EA-41EB-45D5-97A8-669721F02812}" dt="2026-10-15T17:07:28.566" v="334"/>
          <ac:spMkLst>
            <pc:docMk/>
            <pc:sldMk cId="2126655742" sldId="256"/>
            <ac:spMk id="3" creationId="{AEC5491B-05C5-18C1-4331-FFBA22F354AA}"/>
          </ac:spMkLst>
        </pc:spChg>
      </pc:sldChg>
      <pc:sldChg chg="addSp delSp modSp mod">
        <pc:chgData name="Beau Rolland" userId="f52fc5bcd6e30c53" providerId="LiveId" clId="{8CD072EA-41EB-45D5-97A8-669721F02812}" dt="2026-10-15T17:07:28.622" v="335" actId="27636"/>
        <pc:sldMkLst>
          <pc:docMk/>
          <pc:sldMk cId="4223271665" sldId="257"/>
        </pc:sldMkLst>
        <pc:spChg chg="mod">
          <ac:chgData name="Beau Rolland" userId="f52fc5bcd6e30c53" providerId="LiveId" clId="{8CD072EA-41EB-45D5-97A8-669721F02812}" dt="2026-10-15T17:07:28.566" v="334"/>
          <ac:spMkLst>
            <pc:docMk/>
            <pc:sldMk cId="4223271665" sldId="257"/>
            <ac:spMk id="2" creationId="{0548B217-9D8D-521C-5D79-1F14D3DF8204}"/>
          </ac:spMkLst>
        </pc:spChg>
        <pc:spChg chg="mod">
          <ac:chgData name="Beau Rolland" userId="f52fc5bcd6e30c53" providerId="LiveId" clId="{8CD072EA-41EB-45D5-97A8-669721F02812}" dt="2026-10-15T17:07:28.622" v="335" actId="27636"/>
          <ac:spMkLst>
            <pc:docMk/>
            <pc:sldMk cId="4223271665" sldId="257"/>
            <ac:spMk id="3" creationId="{711AD3D6-6847-A1BF-A357-6476643DE783}"/>
          </ac:spMkLst>
        </pc:spChg>
      </pc:sldChg>
      <pc:sldChg chg="modSp mod">
        <pc:chgData name="Beau Rolland" userId="f52fc5bcd6e30c53" providerId="LiveId" clId="{8CD072EA-41EB-45D5-97A8-669721F02812}" dt="2026-10-15T17:12:01.538" v="340"/>
        <pc:sldMkLst>
          <pc:docMk/>
          <pc:sldMk cId="2565840779" sldId="258"/>
        </pc:sldMkLst>
        <pc:spChg chg="mod">
          <ac:chgData name="Beau Rolland" userId="f52fc5bcd6e30c53" providerId="LiveId" clId="{8CD072EA-41EB-45D5-97A8-669721F02812}" dt="2026-10-15T17:07:28.566" v="334"/>
          <ac:spMkLst>
            <pc:docMk/>
            <pc:sldMk cId="2565840779" sldId="258"/>
            <ac:spMk id="2" creationId="{308A9F09-F9F4-DF0A-DE35-C581EBFCEBA6}"/>
          </ac:spMkLst>
        </pc:spChg>
        <pc:spChg chg="mod">
          <ac:chgData name="Beau Rolland" userId="f52fc5bcd6e30c53" providerId="LiveId" clId="{8CD072EA-41EB-45D5-97A8-669721F02812}" dt="2026-10-15T17:12:01.538" v="340"/>
          <ac:spMkLst>
            <pc:docMk/>
            <pc:sldMk cId="2565840779" sldId="258"/>
            <ac:spMk id="3" creationId="{7C9F5BBC-1E82-86EF-8027-3155FEFD57FC}"/>
          </ac:spMkLst>
        </pc:spChg>
      </pc:sldChg>
      <pc:sldChg chg="addSp delSp modSp mod">
        <pc:chgData name="Beau Rolland" userId="f52fc5bcd6e30c53" providerId="LiveId" clId="{8CD072EA-41EB-45D5-97A8-669721F02812}" dt="2026-10-18T14:41:07.419" v="364" actId="20577"/>
        <pc:sldMkLst>
          <pc:docMk/>
          <pc:sldMk cId="453325486" sldId="259"/>
        </pc:sldMkLst>
        <pc:spChg chg="mod">
          <ac:chgData name="Beau Rolland" userId="f52fc5bcd6e30c53" providerId="LiveId" clId="{8CD072EA-41EB-45D5-97A8-669721F02812}" dt="2026-10-18T14:41:07.419" v="364" actId="20577"/>
          <ac:spMkLst>
            <pc:docMk/>
            <pc:sldMk cId="453325486" sldId="259"/>
            <ac:spMk id="2" creationId="{15318A5B-F433-EEF4-5544-BBABF72F382C}"/>
          </ac:spMkLst>
        </pc:spChg>
        <pc:spChg chg="mod">
          <ac:chgData name="Beau Rolland" userId="f52fc5bcd6e30c53" providerId="LiveId" clId="{8CD072EA-41EB-45D5-97A8-669721F02812}" dt="2026-10-15T16:50:07.150" v="275" actId="1076"/>
          <ac:spMkLst>
            <pc:docMk/>
            <pc:sldMk cId="453325486" sldId="259"/>
            <ac:spMk id="3" creationId="{7CEA9BD2-4ECA-2B94-04C5-4701999AE766}"/>
          </ac:spMkLst>
        </pc:spChg>
        <pc:spChg chg="mod">
          <ac:chgData name="Beau Rolland" userId="f52fc5bcd6e30c53" providerId="LiveId" clId="{8CD072EA-41EB-45D5-97A8-669721F02812}" dt="2026-10-15T17:06:32.461" v="323"/>
          <ac:spMkLst>
            <pc:docMk/>
            <pc:sldMk cId="453325486" sldId="259"/>
            <ac:spMk id="4" creationId="{EE941EF1-6D8C-3195-8C06-D1B652288C56}"/>
          </ac:spMkLst>
        </pc:spChg>
        <pc:spChg chg="mod">
          <ac:chgData name="Beau Rolland" userId="f52fc5bcd6e30c53" providerId="LiveId" clId="{8CD072EA-41EB-45D5-97A8-669721F02812}" dt="2026-10-15T16:50:12.107" v="276" actId="1076"/>
          <ac:spMkLst>
            <pc:docMk/>
            <pc:sldMk cId="453325486" sldId="259"/>
            <ac:spMk id="5" creationId="{8CBA700D-B559-D484-7867-C33B4BAF8A5F}"/>
          </ac:spMkLst>
        </pc:spChg>
        <pc:spChg chg="mod">
          <ac:chgData name="Beau Rolland" userId="f52fc5bcd6e30c53" providerId="LiveId" clId="{8CD072EA-41EB-45D5-97A8-669721F02812}" dt="2026-10-15T17:06:38.853" v="324"/>
          <ac:spMkLst>
            <pc:docMk/>
            <pc:sldMk cId="453325486" sldId="259"/>
            <ac:spMk id="6" creationId="{39D2982E-5268-5C02-0437-C7057C3DCBE6}"/>
          </ac:spMkLst>
        </pc:spChg>
        <pc:spChg chg="add mod">
          <ac:chgData name="Beau Rolland" userId="f52fc5bcd6e30c53" providerId="LiveId" clId="{8CD072EA-41EB-45D5-97A8-669721F02812}" dt="2026-10-18T14:40:40.440" v="360" actId="20577"/>
          <ac:spMkLst>
            <pc:docMk/>
            <pc:sldMk cId="453325486" sldId="259"/>
            <ac:spMk id="8" creationId="{23A46B1B-4627-F064-6C1A-7DBBE679EE4B}"/>
          </ac:spMkLst>
        </pc:spChg>
      </pc:sldChg>
      <pc:sldChg chg="modSp mod">
        <pc:chgData name="Beau Rolland" userId="f52fc5bcd6e30c53" providerId="LiveId" clId="{8CD072EA-41EB-45D5-97A8-669721F02812}" dt="2026-10-15T17:07:28.566" v="334"/>
        <pc:sldMkLst>
          <pc:docMk/>
          <pc:sldMk cId="1466154093" sldId="260"/>
        </pc:sldMkLst>
        <pc:spChg chg="mod">
          <ac:chgData name="Beau Rolland" userId="f52fc5bcd6e30c53" providerId="LiveId" clId="{8CD072EA-41EB-45D5-97A8-669721F02812}" dt="2026-10-15T17:07:28.566" v="334"/>
          <ac:spMkLst>
            <pc:docMk/>
            <pc:sldMk cId="1466154093" sldId="260"/>
            <ac:spMk id="2" creationId="{2D270BF0-4EC1-3B08-84E8-454BF2CD0390}"/>
          </ac:spMkLst>
        </pc:spChg>
        <pc:spChg chg="mod">
          <ac:chgData name="Beau Rolland" userId="f52fc5bcd6e30c53" providerId="LiveId" clId="{8CD072EA-41EB-45D5-97A8-669721F02812}" dt="2026-10-15T17:07:28.566" v="334"/>
          <ac:spMkLst>
            <pc:docMk/>
            <pc:sldMk cId="1466154093" sldId="260"/>
            <ac:spMk id="3" creationId="{2BCE0F64-BCEE-78B5-5AF6-6C64E936604C}"/>
          </ac:spMkLst>
        </pc:spChg>
      </pc:sldChg>
      <pc:sldChg chg="modSp mod">
        <pc:chgData name="Beau Rolland" userId="f52fc5bcd6e30c53" providerId="LiveId" clId="{8CD072EA-41EB-45D5-97A8-669721F02812}" dt="2026-10-15T17:07:28.566" v="334"/>
        <pc:sldMkLst>
          <pc:docMk/>
          <pc:sldMk cId="9736162" sldId="261"/>
        </pc:sldMkLst>
        <pc:spChg chg="mod">
          <ac:chgData name="Beau Rolland" userId="f52fc5bcd6e30c53" providerId="LiveId" clId="{8CD072EA-41EB-45D5-97A8-669721F02812}" dt="2026-10-15T17:07:28.566" v="334"/>
          <ac:spMkLst>
            <pc:docMk/>
            <pc:sldMk cId="9736162" sldId="261"/>
            <ac:spMk id="2" creationId="{2AF355D6-DDE8-9C6B-9929-6848ADD0543C}"/>
          </ac:spMkLst>
        </pc:spChg>
        <pc:spChg chg="mod">
          <ac:chgData name="Beau Rolland" userId="f52fc5bcd6e30c53" providerId="LiveId" clId="{8CD072EA-41EB-45D5-97A8-669721F02812}" dt="2026-10-15T17:07:28.566" v="334"/>
          <ac:spMkLst>
            <pc:docMk/>
            <pc:sldMk cId="9736162" sldId="261"/>
            <ac:spMk id="3" creationId="{E62B9F6C-0A77-CCEC-39B3-044CC022FF6C}"/>
          </ac:spMkLst>
        </pc:spChg>
      </pc:sldChg>
      <pc:sldChg chg="modSp mod">
        <pc:chgData name="Beau Rolland" userId="f52fc5bcd6e30c53" providerId="LiveId" clId="{8CD072EA-41EB-45D5-97A8-669721F02812}" dt="2026-10-15T17:18:23.828" v="353" actId="179"/>
        <pc:sldMkLst>
          <pc:docMk/>
          <pc:sldMk cId="319366877" sldId="262"/>
        </pc:sldMkLst>
        <pc:spChg chg="mod">
          <ac:chgData name="Beau Rolland" userId="f52fc5bcd6e30c53" providerId="LiveId" clId="{8CD072EA-41EB-45D5-97A8-669721F02812}" dt="2026-10-15T17:07:28.566" v="334"/>
          <ac:spMkLst>
            <pc:docMk/>
            <pc:sldMk cId="319366877" sldId="262"/>
            <ac:spMk id="2" creationId="{58C8E188-53DD-85B2-CA60-C8EF3DF4883B}"/>
          </ac:spMkLst>
        </pc:spChg>
        <pc:spChg chg="mod">
          <ac:chgData name="Beau Rolland" userId="f52fc5bcd6e30c53" providerId="LiveId" clId="{8CD072EA-41EB-45D5-97A8-669721F02812}" dt="2026-10-15T17:18:23.828" v="353" actId="179"/>
          <ac:spMkLst>
            <pc:docMk/>
            <pc:sldMk cId="319366877" sldId="262"/>
            <ac:spMk id="3" creationId="{4F53CDA3-2735-2E83-0D62-EF7B96B9791D}"/>
          </ac:spMkLst>
        </pc:spChg>
      </pc:sldChg>
      <pc:sldChg chg="modSp new mod">
        <pc:chgData name="Beau Rolland" userId="f52fc5bcd6e30c53" providerId="LiveId" clId="{8CD072EA-41EB-45D5-97A8-669721F02812}" dt="2026-10-15T17:07:28.566" v="334"/>
        <pc:sldMkLst>
          <pc:docMk/>
          <pc:sldMk cId="3542825812" sldId="263"/>
        </pc:sldMkLst>
        <pc:spChg chg="mod">
          <ac:chgData name="Beau Rolland" userId="f52fc5bcd6e30c53" providerId="LiveId" clId="{8CD072EA-41EB-45D5-97A8-669721F02812}" dt="2026-10-15T17:07:28.566" v="334"/>
          <ac:spMkLst>
            <pc:docMk/>
            <pc:sldMk cId="3542825812" sldId="263"/>
            <ac:spMk id="2" creationId="{DCCFF139-723B-2DCC-3E2A-23DB55317C8D}"/>
          </ac:spMkLst>
        </pc:spChg>
        <pc:spChg chg="mod">
          <ac:chgData name="Beau Rolland" userId="f52fc5bcd6e30c53" providerId="LiveId" clId="{8CD072EA-41EB-45D5-97A8-669721F02812}" dt="2026-10-15T17:07:28.566" v="334"/>
          <ac:spMkLst>
            <pc:docMk/>
            <pc:sldMk cId="3542825812" sldId="263"/>
            <ac:spMk id="3" creationId="{95A8480D-F76C-ECF7-6459-E2CA5C6E36B2}"/>
          </ac:spMkLst>
        </pc:spChg>
      </pc:sldChg>
      <pc:sldChg chg="modSp new mod">
        <pc:chgData name="Beau Rolland" userId="f52fc5bcd6e30c53" providerId="LiveId" clId="{8CD072EA-41EB-45D5-97A8-669721F02812}" dt="2026-10-18T14:41:40.779" v="374" actId="20577"/>
        <pc:sldMkLst>
          <pc:docMk/>
          <pc:sldMk cId="299383760" sldId="264"/>
        </pc:sldMkLst>
        <pc:spChg chg="mod">
          <ac:chgData name="Beau Rolland" userId="f52fc5bcd6e30c53" providerId="LiveId" clId="{8CD072EA-41EB-45D5-97A8-669721F02812}" dt="2026-10-15T17:07:28.566" v="334"/>
          <ac:spMkLst>
            <pc:docMk/>
            <pc:sldMk cId="299383760" sldId="264"/>
            <ac:spMk id="2" creationId="{0756893F-37D3-0658-8289-8091E86F632D}"/>
          </ac:spMkLst>
        </pc:spChg>
        <pc:spChg chg="mod">
          <ac:chgData name="Beau Rolland" userId="f52fc5bcd6e30c53" providerId="LiveId" clId="{8CD072EA-41EB-45D5-97A8-669721F02812}" dt="2026-10-18T14:41:40.779" v="374" actId="20577"/>
          <ac:spMkLst>
            <pc:docMk/>
            <pc:sldMk cId="299383760" sldId="264"/>
            <ac:spMk id="3" creationId="{50A568EF-5065-BC4A-DF4F-5A950556BA96}"/>
          </ac:spMkLst>
        </pc:spChg>
      </pc:sldChg>
      <pc:sldChg chg="addSp delSp modSp new mod">
        <pc:chgData name="Beau Rolland" userId="f52fc5bcd6e30c53" providerId="LiveId" clId="{8CD072EA-41EB-45D5-97A8-669721F02812}" dt="2026-10-15T17:07:42.871" v="336" actId="113"/>
        <pc:sldMkLst>
          <pc:docMk/>
          <pc:sldMk cId="1153710302" sldId="265"/>
        </pc:sldMkLst>
        <pc:spChg chg="mod">
          <ac:chgData name="Beau Rolland" userId="f52fc5bcd6e30c53" providerId="LiveId" clId="{8CD072EA-41EB-45D5-97A8-669721F02812}" dt="2026-10-15T17:07:42.871" v="336" actId="113"/>
          <ac:spMkLst>
            <pc:docMk/>
            <pc:sldMk cId="1153710302" sldId="265"/>
            <ac:spMk id="2" creationId="{EBF5BB4F-9262-96D6-E331-1D0A4748C811}"/>
          </ac:spMkLst>
        </pc:spChg>
        <pc:picChg chg="add mod ord">
          <ac:chgData name="Beau Rolland" userId="f52fc5bcd6e30c53" providerId="LiveId" clId="{8CD072EA-41EB-45D5-97A8-669721F02812}" dt="2026-10-15T17:07:27.215" v="333" actId="1076"/>
          <ac:picMkLst>
            <pc:docMk/>
            <pc:sldMk cId="1153710302" sldId="265"/>
            <ac:picMk id="5" creationId="{C3F505AD-8840-FC6A-DFFC-CB582E1BB0E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09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8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1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221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5553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97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88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3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89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240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0903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75154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996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521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3810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2892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55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548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0836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248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154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77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989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8244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6208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403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C2ADF-347D-629D-3CF8-9363445D9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3257D-1FD9-C58C-42EE-B4113F262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C8D21-4023-300B-B0C7-FBBE8B4A5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91FF2-8D69-A435-8AC8-5ECE88734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4D18D-B12B-CF55-0645-9B4FCED49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437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0A439-E38F-9707-A7D0-459FA548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32F2C-AF94-757C-D3BD-59FAFA0B7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2766B5-F68B-A1AA-F1DF-FF4361C35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BEA5CE-CA10-FE29-0D33-F2C4517B69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F0A4AD-1587-721E-73D3-D22365952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81F6E8-9EA3-EE4F-A366-21BAA434F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524942-1EE7-0C89-67DB-F0778B5A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717F13-260A-2041-72D7-0F3DBC615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038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AB1C8EF1-80B1-4AF4-A489-E7A37316C10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A17EBD35-80E8-4810-8F90-7EEBFD18B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44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qb.org/certifications/certified-tester-foundation-level-ctfl-v4-0/" TargetMode="External"/><Relationship Id="rId2" Type="http://schemas.openxmlformats.org/officeDocument/2006/relationships/hyperlink" Target="https://www.scrum.org/resources/blog/should-scrum-master-become-product-owne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2821/ijispm100203" TargetMode="External"/><Relationship Id="rId4" Type="http://schemas.openxmlformats.org/officeDocument/2006/relationships/hyperlink" Target="https://www.atlassian.com/blog/jira-align/bringing-agility-to-project-mgm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8452D-8C01-BFA3-3552-955FBE2AB9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Development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C5491B-05C5-18C1-4331-FFBA22F354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Beau Rolland</a:t>
            </a:r>
          </a:p>
        </p:txBody>
      </p:sp>
    </p:spTree>
    <p:extLst>
      <p:ext uri="{BB962C8B-B14F-4D97-AF65-F5344CB8AC3E}">
        <p14:creationId xmlns:p14="http://schemas.microsoft.com/office/powerpoint/2010/main" val="2126655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6893F-37D3-0658-8289-8091E86F6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Scrum-Agile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568EF-5065-BC4A-DF4F-5A950556B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Scrum-Agile provides an approach to software development that allows teams to incorporate feedback and adjust requirements as a project progresses.</a:t>
            </a:r>
          </a:p>
        </p:txBody>
      </p:sp>
    </p:spTree>
    <p:extLst>
      <p:ext uri="{BB962C8B-B14F-4D97-AF65-F5344CB8AC3E}">
        <p14:creationId xmlns:p14="http://schemas.microsoft.com/office/powerpoint/2010/main" val="299383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FF139-723B-2DCC-3E2A-23DB55317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and Project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8480D-F76C-ECF7-6459-E2CA5C6E3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goal: Develop the SNHU Travel application using the scrum agile framework</a:t>
            </a:r>
          </a:p>
          <a:p>
            <a:r>
              <a:rPr lang="en-US" dirty="0"/>
              <a:t>Current approach: </a:t>
            </a:r>
            <a:r>
              <a:rPr lang="en-US" dirty="0" err="1"/>
              <a:t>ChadaTech</a:t>
            </a:r>
            <a:r>
              <a:rPr lang="en-US" dirty="0"/>
              <a:t> has traditionally used the Waterfall development model.</a:t>
            </a:r>
          </a:p>
          <a:p>
            <a:r>
              <a:rPr lang="en-US" dirty="0"/>
              <a:t>Proposed change: Evaluate whether Scrum-Agile can improve flexibility, collaboration, and responsiveness to customer feedback.</a:t>
            </a:r>
          </a:p>
          <a:p>
            <a:r>
              <a:rPr lang="en-US" dirty="0"/>
              <a:t>Presentation objective: Compare the approaches and recommend which would best support </a:t>
            </a:r>
            <a:r>
              <a:rPr lang="en-US" dirty="0" err="1"/>
              <a:t>ChadaTech's</a:t>
            </a:r>
            <a:r>
              <a:rPr lang="en-US" dirty="0"/>
              <a:t> development projects.</a:t>
            </a:r>
          </a:p>
        </p:txBody>
      </p:sp>
    </p:spTree>
    <p:extLst>
      <p:ext uri="{BB962C8B-B14F-4D97-AF65-F5344CB8AC3E}">
        <p14:creationId xmlns:p14="http://schemas.microsoft.com/office/powerpoint/2010/main" val="354282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8B217-9D8D-521C-5D79-1F14D3DF8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AD3D6-6847-A1BF-A357-6476643DE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Product Owner</a:t>
            </a:r>
          </a:p>
          <a:p>
            <a:pPr lvl="1"/>
            <a:r>
              <a:rPr lang="en-US" dirty="0"/>
              <a:t>Defines product goals and prioritizes the product backlog.</a:t>
            </a:r>
          </a:p>
          <a:p>
            <a:pPr lvl="1"/>
            <a:r>
              <a:rPr lang="en-US" dirty="0"/>
              <a:t>Ensures development focuses on customer needs.</a:t>
            </a:r>
          </a:p>
          <a:p>
            <a:r>
              <a:rPr lang="en-US" dirty="0"/>
              <a:t>Scrum master</a:t>
            </a:r>
          </a:p>
          <a:p>
            <a:pPr lvl="1"/>
            <a:r>
              <a:rPr lang="en-US" dirty="0"/>
              <a:t>Facilitates Scrum events and supports Scrum practices.</a:t>
            </a:r>
          </a:p>
          <a:p>
            <a:pPr lvl="1"/>
            <a:r>
              <a:rPr lang="en-US" dirty="0"/>
              <a:t>Helps identify obstacles and improve team effectiveness.</a:t>
            </a:r>
          </a:p>
          <a:p>
            <a:r>
              <a:rPr lang="en-US" dirty="0"/>
              <a:t>Developer</a:t>
            </a:r>
          </a:p>
          <a:p>
            <a:pPr lvl="1"/>
            <a:r>
              <a:rPr lang="en-US" dirty="0"/>
              <a:t>Designs, builds, and maintains the application's functionality.</a:t>
            </a:r>
          </a:p>
          <a:p>
            <a:pPr lvl="1"/>
            <a:r>
              <a:rPr lang="en-US" dirty="0"/>
              <a:t>Works toward delivering a usable product increment each sprint.</a:t>
            </a:r>
          </a:p>
          <a:p>
            <a:r>
              <a:rPr lang="en-US" dirty="0"/>
              <a:t>Tester</a:t>
            </a:r>
          </a:p>
          <a:p>
            <a:pPr lvl="1"/>
            <a:r>
              <a:rPr lang="en-US" dirty="0"/>
              <a:t>Develops and performs tests to verify expected functionality.</a:t>
            </a:r>
          </a:p>
          <a:p>
            <a:pPr lvl="1"/>
            <a:r>
              <a:rPr lang="en-US" dirty="0"/>
              <a:t>Identifies defects and clarifies requirements to help ensure the product meets acceptance criteria.</a:t>
            </a:r>
          </a:p>
          <a:p>
            <a:pPr marL="0" indent="0">
              <a:buNone/>
            </a:pPr>
            <a:r>
              <a:rPr lang="en-US" dirty="0"/>
              <a:t>(Coleman, 2023; ISTQB, 2023)</a:t>
            </a:r>
          </a:p>
        </p:txBody>
      </p:sp>
    </p:spTree>
    <p:extLst>
      <p:ext uri="{BB962C8B-B14F-4D97-AF65-F5344CB8AC3E}">
        <p14:creationId xmlns:p14="http://schemas.microsoft.com/office/powerpoint/2010/main" val="4223271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A9F09-F9F4-DF0A-DE35-C581EBFCE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Development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F5BBC-1E82-86EF-8027-3155FEFD5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/>
              <a:t>Planning and Requirements:</a:t>
            </a:r>
            <a:r>
              <a:rPr lang="en-US" dirty="0"/>
              <a:t> Identify customer needs and prioritize user stories.</a:t>
            </a:r>
          </a:p>
          <a:p>
            <a:pPr lvl="0"/>
            <a:r>
              <a:rPr lang="en-US" b="1" dirty="0"/>
              <a:t>Design:</a:t>
            </a:r>
            <a:r>
              <a:rPr lang="en-US" dirty="0"/>
              <a:t> Determine how the feature will work and fit into the application.</a:t>
            </a:r>
          </a:p>
          <a:p>
            <a:pPr lvl="0"/>
            <a:r>
              <a:rPr lang="en-US" b="1" dirty="0"/>
              <a:t>Development:</a:t>
            </a:r>
            <a:r>
              <a:rPr lang="en-US" dirty="0"/>
              <a:t> Build the functionality selected for the sprint.</a:t>
            </a:r>
          </a:p>
          <a:p>
            <a:pPr lvl="0"/>
            <a:r>
              <a:rPr lang="en-US" b="1" dirty="0"/>
              <a:t>Testing:</a:t>
            </a:r>
            <a:r>
              <a:rPr lang="en-US" dirty="0"/>
              <a:t> Verify that the feature works as expected and meets acceptance criteria.</a:t>
            </a:r>
          </a:p>
          <a:p>
            <a:pPr lvl="0"/>
            <a:r>
              <a:rPr lang="en-US" b="1" dirty="0"/>
              <a:t>Deployment and Review:</a:t>
            </a:r>
            <a:r>
              <a:rPr lang="en-US" dirty="0"/>
              <a:t> Deliver a usable increment and gather feedback.</a:t>
            </a:r>
          </a:p>
          <a:p>
            <a:pPr lvl="0"/>
            <a:r>
              <a:rPr lang="en-US" b="1" dirty="0"/>
              <a:t>Maintenance:</a:t>
            </a:r>
            <a:r>
              <a:rPr lang="en-US" dirty="0"/>
              <a:t> Fix issues and continue improving the application.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Key takeaway:</a:t>
            </a:r>
            <a:r>
              <a:rPr lang="en-US" dirty="0"/>
              <a:t> Agile repeats these activities across iterations, allowing the team to incorporate feedback and adjust requirements as development progresses.</a:t>
            </a:r>
          </a:p>
          <a:p>
            <a:pPr marL="0" indent="0">
              <a:buNone/>
            </a:pPr>
            <a:r>
              <a:rPr lang="en-US"/>
              <a:t>(Madaan, 2024)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840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5BB4F-9262-96D6-E331-1D0A4748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Development Cycle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F505AD-8840-FC6A-DFFC-CB582E1BB0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842" y="1368425"/>
            <a:ext cx="4805859" cy="530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10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18A5B-F433-EEF4-5544-BBABF72F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Vs. Agile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A9BD2-4ECA-2B94-04C5-4701999AE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269207"/>
            <a:ext cx="5157787" cy="823912"/>
          </a:xfrm>
        </p:spPr>
        <p:txBody>
          <a:bodyPr/>
          <a:lstStyle/>
          <a:p>
            <a:r>
              <a:rPr lang="en-US" dirty="0"/>
              <a:t>Waterfall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41EF1-6D8C-3195-8C06-D1B652288C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2105151"/>
            <a:ext cx="5157787" cy="3684588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Phases completed in sequence</a:t>
            </a:r>
          </a:p>
          <a:p>
            <a:pPr lvl="0"/>
            <a:r>
              <a:rPr lang="en-US" sz="2400" dirty="0"/>
              <a:t>Requirements established upfront</a:t>
            </a:r>
          </a:p>
          <a:p>
            <a:pPr lvl="0"/>
            <a:r>
              <a:rPr lang="en-US" sz="2400" dirty="0"/>
              <a:t>Testing follows development</a:t>
            </a:r>
          </a:p>
          <a:p>
            <a:pPr lvl="0"/>
            <a:r>
              <a:rPr lang="en-US" sz="2400" dirty="0"/>
              <a:t>Changes may require rework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BA700D-B559-D484-7867-C33B4BAF8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278732"/>
            <a:ext cx="5183188" cy="823912"/>
          </a:xfrm>
        </p:spPr>
        <p:txBody>
          <a:bodyPr/>
          <a:lstStyle/>
          <a:p>
            <a:r>
              <a:rPr lang="en-US" dirty="0"/>
              <a:t>Agile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D2982E-5268-5C02-0437-C7057C3DCB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05151"/>
            <a:ext cx="5183188" cy="3684588"/>
          </a:xfrm>
        </p:spPr>
        <p:txBody>
          <a:bodyPr/>
          <a:lstStyle/>
          <a:p>
            <a:pPr lvl="0"/>
            <a:r>
              <a:rPr lang="en-US" sz="2400" dirty="0"/>
              <a:t>Work completed in iterations</a:t>
            </a:r>
          </a:p>
          <a:p>
            <a:pPr lvl="0"/>
            <a:r>
              <a:rPr lang="en-US" sz="2400" dirty="0"/>
              <a:t>Requirements refined as needed</a:t>
            </a:r>
          </a:p>
          <a:p>
            <a:pPr lvl="0"/>
            <a:r>
              <a:rPr lang="en-US" sz="2400" dirty="0"/>
              <a:t>Testing throughout development</a:t>
            </a:r>
          </a:p>
          <a:p>
            <a:pPr lvl="0"/>
            <a:r>
              <a:rPr lang="en-US" sz="2400" dirty="0"/>
              <a:t>Changes managed as priorities evolve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3A46B1B-4627-F064-6C1A-7DBBE679EE4B}"/>
              </a:ext>
            </a:extLst>
          </p:cNvPr>
          <p:cNvSpPr txBox="1">
            <a:spLocks/>
          </p:cNvSpPr>
          <p:nvPr/>
        </p:nvSpPr>
        <p:spPr>
          <a:xfrm>
            <a:off x="939803" y="51673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Agile would allow the team to adjust the project as requirements change, while Waterfall would make late changes more difficult to accommodate.</a:t>
            </a:r>
          </a:p>
          <a:p>
            <a:r>
              <a:rPr lang="en-US" sz="2000" dirty="0"/>
              <a:t>(Madaan, 2024)</a:t>
            </a:r>
          </a:p>
        </p:txBody>
      </p:sp>
    </p:spTree>
    <p:extLst>
      <p:ext uri="{BB962C8B-B14F-4D97-AF65-F5344CB8AC3E}">
        <p14:creationId xmlns:p14="http://schemas.microsoft.com/office/powerpoint/2010/main" val="453325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70BF0-4EC1-3B08-84E8-454BF2CD0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in SNHU Travel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E0F64-BCEE-78B5-5AF6-6C64E9366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User Stories: Break application requirements into manageable features.</a:t>
            </a:r>
          </a:p>
          <a:p>
            <a:pPr lvl="0"/>
            <a:r>
              <a:rPr lang="en-US" dirty="0"/>
              <a:t>Sprint Development: Develop and improve features in small increments.</a:t>
            </a:r>
          </a:p>
          <a:p>
            <a:pPr lvl="0"/>
            <a:r>
              <a:rPr lang="en-US" dirty="0"/>
              <a:t>Testing: Verify functionality and identify defects throughout development.</a:t>
            </a:r>
          </a:p>
          <a:p>
            <a:pPr lvl="0"/>
            <a:r>
              <a:rPr lang="en-US" dirty="0"/>
              <a:t>Feedback and Changes: Adjust the application when requirements need clarification or change.</a:t>
            </a:r>
          </a:p>
          <a:p>
            <a:pPr marL="0" indent="0">
              <a:buNone/>
            </a:pPr>
            <a:r>
              <a:rPr lang="en-US" dirty="0"/>
              <a:t>Key takeaway: Scrum-Agile supports incremental development, ongoing testing, and adjustments based on project needs.</a:t>
            </a:r>
          </a:p>
          <a:p>
            <a:pPr marL="0" indent="0">
              <a:buNone/>
            </a:pPr>
            <a:r>
              <a:rPr lang="en-US" dirty="0"/>
              <a:t>(ISTQB, 2023)</a:t>
            </a:r>
          </a:p>
        </p:txBody>
      </p:sp>
    </p:spTree>
    <p:extLst>
      <p:ext uri="{BB962C8B-B14F-4D97-AF65-F5344CB8AC3E}">
        <p14:creationId xmlns:p14="http://schemas.microsoft.com/office/powerpoint/2010/main" val="1466154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55D6-DDE8-9C6B-9929-6848ADD0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B9F6C-0A77-CCEC-39B3-044CC02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/>
              <a:t>High-Level Planning:</a:t>
            </a:r>
            <a:r>
              <a:rPr lang="en-US" dirty="0"/>
              <a:t> Use Waterfall to establish project goals, scope, and major milestones.</a:t>
            </a:r>
          </a:p>
          <a:p>
            <a:pPr lvl="0"/>
            <a:r>
              <a:rPr lang="en-US" b="1" dirty="0"/>
              <a:t>Agile Development:</a:t>
            </a:r>
            <a:r>
              <a:rPr lang="en-US" dirty="0"/>
              <a:t> Use Scrum-Agile to develop features incrementally and adapt to changing requirements.</a:t>
            </a:r>
          </a:p>
          <a:p>
            <a:pPr lvl="0"/>
            <a:r>
              <a:rPr lang="en-US" b="1" dirty="0"/>
              <a:t>Continuous Testing:</a:t>
            </a:r>
            <a:r>
              <a:rPr lang="en-US" dirty="0"/>
              <a:t> Incorporate testing and feedback throughout development.</a:t>
            </a:r>
          </a:p>
          <a:p>
            <a:pPr lvl="0"/>
            <a:r>
              <a:rPr lang="en-US" b="1" dirty="0"/>
              <a:t>Team Collaboration:</a:t>
            </a:r>
            <a:r>
              <a:rPr lang="en-US" dirty="0"/>
              <a:t> Use Scrum events to maintain communication and address obstacles.</a:t>
            </a:r>
          </a:p>
          <a:p>
            <a:pPr marL="0" indent="0">
              <a:buNone/>
            </a:pPr>
            <a:r>
              <a:rPr lang="en-US" b="1" dirty="0"/>
              <a:t>Final Recommendation:</a:t>
            </a:r>
            <a:r>
              <a:rPr lang="en-US" dirty="0"/>
              <a:t> </a:t>
            </a:r>
            <a:r>
              <a:rPr lang="en-US" dirty="0" err="1"/>
              <a:t>ChadaTech</a:t>
            </a:r>
            <a:r>
              <a:rPr lang="en-US" dirty="0"/>
              <a:t> should adopt a hybrid approach that combines Waterfall's structured planning with Scrum-</a:t>
            </a:r>
            <a:r>
              <a:rPr lang="en-US" dirty="0" err="1"/>
              <a:t>Agile's</a:t>
            </a:r>
            <a:r>
              <a:rPr lang="en-US" dirty="0"/>
              <a:t> flexibility, allowing teams to maintain clear project goals while adapting to changing customer needs.</a:t>
            </a:r>
          </a:p>
          <a:p>
            <a:pPr marL="0" indent="0">
              <a:buNone/>
            </a:pPr>
            <a:r>
              <a:rPr lang="en-US" dirty="0"/>
              <a:t>(Reiff &amp; Schlegel, 2022)</a:t>
            </a:r>
          </a:p>
        </p:txBody>
      </p:sp>
    </p:spTree>
    <p:extLst>
      <p:ext uri="{BB962C8B-B14F-4D97-AF65-F5344CB8AC3E}">
        <p14:creationId xmlns:p14="http://schemas.microsoft.com/office/powerpoint/2010/main" val="9736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8E188-53DD-85B2-CA60-C8EF3DF48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3CDA3-2735-2E83-0D62-EF7B96B97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1963" indent="0">
              <a:buNone/>
            </a:pPr>
            <a:r>
              <a:rPr lang="en-US" dirty="0"/>
              <a:t>Coleman, J. (2023, April 25). </a:t>
            </a:r>
            <a:r>
              <a:rPr lang="en-US" i="1" dirty="0"/>
              <a:t>Should a Scrum Master become a Product Owner?</a:t>
            </a:r>
            <a:r>
              <a:rPr lang="en-US" dirty="0"/>
              <a:t> Scrum.org. </a:t>
            </a:r>
            <a:r>
              <a:rPr lang="en-US" dirty="0">
                <a:hlinkClick r:id="rId2"/>
              </a:rPr>
              <a:t>https://www.scrum.org/resources/blog/should-scrum-master-become-product-owner</a:t>
            </a:r>
            <a:endParaRPr lang="en-US" dirty="0"/>
          </a:p>
          <a:p>
            <a:pPr marL="461963" indent="0">
              <a:buNone/>
            </a:pPr>
            <a:r>
              <a:rPr lang="en-US" dirty="0"/>
              <a:t>International Software Testing Qualifications Board. (2023). </a:t>
            </a:r>
            <a:r>
              <a:rPr lang="en-US" i="1" dirty="0"/>
              <a:t>Certified tester foundation level syllabus (Version 4.0).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https://www.istqb.org/certifications/certified-tester-foundation-level-ctfl-v4-0/</a:t>
            </a:r>
            <a:endParaRPr lang="en-US" dirty="0"/>
          </a:p>
          <a:p>
            <a:pPr marL="461963" indent="0">
              <a:buNone/>
            </a:pPr>
            <a:r>
              <a:rPr lang="en-US" dirty="0"/>
              <a:t>Madaan, K. (2024, April 30). </a:t>
            </a:r>
            <a:r>
              <a:rPr lang="en-US" i="1" dirty="0"/>
              <a:t>Waterfall-</a:t>
            </a:r>
            <a:r>
              <a:rPr lang="en-US" i="1" dirty="0" err="1"/>
              <a:t>ish</a:t>
            </a:r>
            <a:r>
              <a:rPr lang="en-US" i="1" dirty="0"/>
              <a:t> playbook: How Jira Align helps traditional projects and portfolios succeed.</a:t>
            </a:r>
            <a:r>
              <a:rPr lang="en-US" dirty="0"/>
              <a:t> Inside Atlassian. </a:t>
            </a:r>
            <a:r>
              <a:rPr lang="en-US" dirty="0">
                <a:hlinkClick r:id="rId4"/>
              </a:rPr>
              <a:t>https://www.atlassian.com/blog/jira-align/bringing-agility-to-project-mgmt</a:t>
            </a:r>
            <a:endParaRPr lang="en-US" dirty="0"/>
          </a:p>
          <a:p>
            <a:pPr marL="461963" indent="0">
              <a:buNone/>
            </a:pPr>
            <a:r>
              <a:rPr lang="en-US" dirty="0"/>
              <a:t>Reiff, J., &amp; Schlegel, D. (2022). Hybrid project management: A systematic literature review. </a:t>
            </a:r>
            <a:r>
              <a:rPr lang="en-US" i="1" dirty="0"/>
              <a:t>International Journal of Information Systems and Project Management, 10</a:t>
            </a:r>
            <a:r>
              <a:rPr lang="en-US" dirty="0"/>
              <a:t>(2), 45–63. </a:t>
            </a:r>
            <a:r>
              <a:rPr lang="en-US" dirty="0">
                <a:hlinkClick r:id="rId5"/>
              </a:rPr>
              <a:t>https://doi.org/10.12821/ijispm100203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66877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33</TotalTime>
  <Words>671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Neue Haas Grotesk Text Pro</vt:lpstr>
      <vt:lpstr>Dune</vt:lpstr>
      <vt:lpstr>Software Development Proposal</vt:lpstr>
      <vt:lpstr>Introduction to Scrum-Agile</vt:lpstr>
      <vt:lpstr>Purpose and Project Context</vt:lpstr>
      <vt:lpstr>Agile Roles</vt:lpstr>
      <vt:lpstr>Agile Development Cycle</vt:lpstr>
      <vt:lpstr>Agile Development Cycle</vt:lpstr>
      <vt:lpstr>Waterfall Vs. Agile</vt:lpstr>
      <vt:lpstr>Application in SNHU Travel</vt:lpstr>
      <vt:lpstr>Recommendation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Rolland, Beau</dc:creator>
  <cp:lastModifiedBy>Rolland, Beau</cp:lastModifiedBy>
  <cp:revision>1</cp:revision>
  <dcterms:created xsi:type="dcterms:W3CDTF">2026-10-15T16:28:45Z</dcterms:created>
  <dcterms:modified xsi:type="dcterms:W3CDTF">2026-10-18T14:41:46Z</dcterms:modified>
</cp:coreProperties>
</file>